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Mill River Salt-Pile Relocation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Stakeholder 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Influence level, likely position, interests, and source-validated justification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Stakeholder Table (1-3)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11795760" cy="566928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2011680"/>
                <a:gridCol w="1920240"/>
                <a:gridCol w="2560320"/>
                <a:gridCol w="3017520"/>
              </a:tblGrid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Stakeholder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Influence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position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Core interests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Justification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Sources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CT DEEP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Supportive of stronger controls; cautious on relocation unless legal/permit basis is clear.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Protect water quality and enforce stormwater compliance.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Administers Industrial Stormwater GP and hearing process; direct permit/enforcement leverage.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https://portal.ct.gov/-/media/deep/water_regulating_and_discharges/stormwater/industrial/2025-permit-documents/2025-industrial-stormwater-general-permit-part-1--2erc.pdf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https://portal.ct.gov/-/media/deep/adjudications/hearing-officer-reports/20251029-industrial-general-permit-ctr05000093-hor.pdf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Gateway Terminal / Enstructure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supports phased transition; likely resists disruptive relocation that breaks logistics economics.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Maintain reliable low-cost multimodal salt logistics.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Operator role and network/logistics disclosures; New Haven rail investment signals operating leverage.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https://enstructure.com/network/northeast/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https://enstructure.com/gateway-terminal-announces-partnership-with-enstructure/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https://enstructure.com/enstructure-to-receive-11-2-million-federal-grant-to-add-two-new-railyards-and-new-railroad-track-in-new-haven-ct/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Southern Connecticut Gas (property owner context)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Medium-High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supports risk-reducing options that preserve land value and manageable transition costs.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Manage property/remediation obligations, lease value, liability exposure.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UI/SCG site FAQ describes parcel ownership and lease use for bulk salt storage under remediation context.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https://www.uinet.com/documents/1678076/1696637/UI_ChapelStreet_FAQ.pdf/c3fe8470-bad2-33fa-e046-e16c975afa0f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Stakeholder Table (4-6)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11795760" cy="566928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2011680"/>
                <a:gridCol w="1920240"/>
                <a:gridCol w="2560320"/>
                <a:gridCol w="3017520"/>
              </a:tblGrid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Stakeholder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Influence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position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Core interests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Justification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Sources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City of New Haven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Medium-High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supportive of relocation or lower-exposure configuration if reliability/cost impacts are managed.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Waterfront redevelopment quality, neighborhood impacts, winter service continuity.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Planning/public process context shows sensitive land-use and community concerns near Mill River corridor.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https://bpb-us-w2.wpmucdn.com/campuspress.yale.edu/dist/a/4311/files/2023/11/New-Haven-Mill-River-Planning-Study-Final-Report-FINAL-web.pdf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https://www.newhavenindependent.org/2025/05/15/deep_salt_pile_hearing/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EPA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Supportive of mitigation and improved environmental outcomes; direct siting role is indirect.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Clean Water Act outcomes and funded project accountability.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NPDES framework + Clean Ports funding create policy/funding leverage.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https://www.epa.gov/npdes/npdes-stormwater-program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https://www.epa.gov/newsreleases/biden-harris-administration-announces-nearly-40-million-clean-ports-investments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CT Port Authority + New Haven Port Authority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favors hybrid/transition solutions preserving throughput while reducing externalities.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Port competitiveness, cargo throughput, rail modernization, community acceptance.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Port entities are named in New Haven funding partnerships and infrastructure initiatives.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https://www.epa.gov/newsreleases/biden-harris-administration-announces-nearly-40-million-clean-ports-investments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https://enstructure.com/enstructure-to-receive-11-2-million-federal-grant-to-add-two-new-railyards-and-new-railroad-track-in-new-haven-ct/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Stakeholder Table (7-8)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11795760" cy="566928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2011680"/>
                <a:gridCol w="1920240"/>
                <a:gridCol w="2560320"/>
                <a:gridCol w="3017520"/>
              </a:tblGrid>
              <a:tr h="1889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Stakeholder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Influence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position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Core interests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Justification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Sources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USACE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Neutral on local siting politics; likely favors resilient import flow.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Harbor/navigation performance and commodity-flow efficiency.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USACE appendix identifies salt as major import and terminal storage role in harbor economics.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https://www.nae.usace.army.mil/Portals/74/docs/Topics/New%20Haven/2020/05-AppendixCEconomcisNewHavenHarborNavigationImprovementProject%20_FinalJanuary2020.pdf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Community &amp; advocacy stakeholders (Save the Sound, EAC, nearby residents)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Likely strongly supportive of relocation or permanent enclosed/contained alternatives.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Reduce river-adjacent risk, nuisance, EJ burden, and increase monitoring transparency.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Hearing record and reporting show organized comments on siting, monitoring gaps, and precautionary controls.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https://portal.ct.gov/-/media/deep/adjudications/hearing-officer-reports/20251029-industrial-general-permit-ctr05000093-hor.pdf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https://www.newhavenindependent.org/2025/05/15/deep_salt_pile_hearing/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Primary Sources Used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[1] https://portal.ct.gov/-/media/deep/water_regulating_and_discharges/stormwater/industrial/2025-permit-documents/2025-industrial-stormwater-general-permit-part-1--2erc.pdf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[2] https://portal.ct.gov/-/media/deep/adjudications/hearing-officer-reports/20251029-industrial-general-permit-ctr05000093-hor.pdf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[3] https://enstructure.com/network/northeast/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[4] https://enstructure.com/gateway-terminal-announces-partnership-with-enstructure/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[5] https://enstructure.com/enstructure-to-receive-11-2-million-federal-grant-to-add-two-new-railyards-and-new-railroad-track-in-new-haven-ct/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[6] https://www.uinet.com/documents/1678076/1696637/UI_ChapelStreet_FAQ.pdf/c3fe8470-bad2-33fa-e046-e16c975afa0f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[7] https://bpb-us-w2.wpmucdn.com/campuspress.yale.edu/dist/a/4311/files/2023/11/New-Haven-Mill-River-Planning-Study-Final-Report-FINAL-web.pdf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[8] https://www.newhavenindependent.org/2025/05/15/deep_salt_pile_hearing/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[9] https://www.epa.gov/npdes/npdes-stormwater-program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[10] https://www.epa.gov/newsreleases/biden-harris-administration-announces-nearly-40-million-clean-ports-investments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[11] https://www.nae.usace.army.mil/Portals/74/docs/Topics/New%20Haven/2020/05-AppendixCEconomcisNewHavenHarborNavigationImprovementProject%20_FinalJanuary2020.pdf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2026-02-12T16:01:46Z</dcterms:created>
  <dcterms:modified xsi:type="dcterms:W3CDTF">2026-02-12T16:01:46Z</dcterms:modified>
</cp:coreProperties>
</file>