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Mill River Salt-Pile Relocation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Stakeholder Map (DOCX-style fields)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Fields: Likely interests | Practical levers | Influence | Notes grounded in record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Stakeholder Table (1-3)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11795760" cy="566928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2377440"/>
                <a:gridCol w="822960"/>
                <a:gridCol w="4114800"/>
              </a:tblGrid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Stakeholder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Likely interests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Practical levers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Influence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Notes grounded in record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Enstructure / Gateway Terminal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Maintain centralized salt distribution role; preserve ship-barge-truck-rail connectivity; limit capex and operational disruption; protect permit coverage and reputation.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Operational control of stockpiles; SWPPP/BMP execution; capital investment decisions; contract terms with municipal buyers and transporters.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Named in DEEP hearing context as the operating salt-pile entity under industrial stormwater permit discussions; corporate materials emphasize multimodal logistics and New Haven rail investment.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Southern Connecticut Gas / UI (property owner context)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Limit liability and remediation conflicts; preserve lease value; reduce legal/community pressure around shoreline use.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Property rights and lease terms; coordination with remediation obligations and site access constraints.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Medium-High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UI/SCG FAQ identifies parcel ownership and lease use for bulk salt/aggregate storage and describes remediation setting of the site.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Connecticut DEEP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Prevent pollutant discharge to waters; enforce permit compliance; maintain defensible permitting process under public scrutiny.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Industrial stormwater permit conditions (CTR050000 / Sector AE); inspections; corrective-action orders; enforcement discretion.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DEEP is the permit/enforcement authority; permit text sets operational constraints and hearing record captures regulator position and process boundaries.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Stakeholder Table (4-6)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11795760" cy="566928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2377440"/>
                <a:gridCol w="822960"/>
                <a:gridCol w="4114800"/>
              </a:tblGrid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Stakeholder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Likely interests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Practical levers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Influence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Notes grounded in record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City of New Haven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Waterfront redevelopment quality; EJ/community outcomes near Mill River/Fair Haven; maintain winter road-safety reliability.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Land-use planning and local political agenda-setting; coordination pressure with state and port actors; public process influence.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Medium-High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Mill River planning materials and local coverage show proximity to community assets and redevelopment priorities around the waterfront corridor.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EPA (program + funding context)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NPDES program outcomes; stormwater risk reduction; climate/environmental benefits from funded port projects.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Federal program guidance and oversight context; grant conditions and funding signals (e.g., Clean Ports).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EPA defines stormwater regulatory framework and publicly announced major port-related investment in New Haven context.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7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CT Port Authority + New Haven Port Authority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Port competitiveness and throughput; infrastructure modernization; reduced conflict between port operations and community expectations.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Project partnership and infrastructure coordination; influence over port-adjacent capital program sequencing.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Port authorities appear as partners in funding/implementation context for New Haven port improvements tied to cargo/rail capability.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Stakeholder Table (7-8)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11795760" cy="5669280"/>
        </p:xfrm>
        <a:graphic>
          <a:graphicData uri="http://schemas.openxmlformats.org/drawingml/2006/table">
            <a:tbl>
              <a:tblPr/>
              <a:tblGrid>
                <a:gridCol w="1737360"/>
                <a:gridCol w="2743200"/>
                <a:gridCol w="2377440"/>
                <a:gridCol w="822960"/>
                <a:gridCol w="4114800"/>
              </a:tblGrid>
              <a:tr h="1889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Stakeholder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Likely interests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Practical levers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Influence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Notes grounded in record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89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US Army Corps of Engineers (USACE)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Harbor/navigation efficiency and economic performance of commodity flow through New Haven.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Planning and documentation influence for navigation/economic framing; federal harbor project context.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USACE appendix identifies salt as major imported commodity and references terminal storage role in harbor supply chain.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89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Community and advocacy stakeholders (Save the Sound, EAC, nearby residents)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Reduce river-edge exposure and nuisance impacts; stronger controls/monitoring transparency; align use of waterfront with community priorities.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Public testimony, comment campaigns, media visibility, issue framing in EJ/community terms.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Hearing record and reporting capture sustained public comment pressure on siting, coverage quality, and monitoring adequacy.</a:t>
                      </a:r>
                      <a:endParaRPr lang="en-US" sz="9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Enstructure / Gateway Terminal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Maintain centralized salt distribution role; preserve ship-barge-truck-rail connectivity; limit capex and operational disruption; protect permit coverage and reputation.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(High) rationale: Named in DEEP hearing context as the operating salt-pile entity under industrial stormwater permit discussions; corporate materials emphasize multimodal logistics and New Haven rail investment.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Operational control of stockpiles; SWPPP/BMP execution; capital investment decisions; contract terms with municipal buyers and transporters.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https://portal.ct.gov/-/media/deep/adjudications/hearing-officer-reports/20251029-industrial-general-permit-ctr05000093-hor.pdf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https://enstructure.com/network/northeast/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8646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https://enstructure.com/gateway-terminal-announces-partnership-with-enstructure/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519379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https://enstructure.com/enstructure-to-receive-11-2-million-federal-grant-to-add-two-new-railyards-and-new-railroad-track-in-new-haven-ct/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Southern Connecticut Gas / UI (property owner context)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Limit liability and remediation conflicts; preserve lease value; reduce legal/community pressure around shoreline use.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(Medium-High) rationale: UI/SCG FAQ identifies parcel ownership and lease use for bulk salt/aggregate storage and describes remediation setting of the site.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Property rights and lease terms; coordination with remediation obligations and site access constraints.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https://www.uinet.com/documents/1678076/1696637/UI_ChapelStreet_FAQ.pdf/c3fe8470-bad2-33fa-e046-e16c975afa0f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Connecticut DEEP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Prevent pollutant discharge to waters; enforce permit compliance; maintain defensible permitting process under public scrutiny.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(High) rationale: DEEP is the permit/enforcement authority; permit text sets operational constraints and hearing record captures regulator position and process boundaries.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Industrial stormwater permit conditions (CTR050000 / Sector AE); inspections; corrective-action orders; enforcement discretion.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https://portal.ct.gov/-/media/deep/water_regulating_and_discharges/stormwater/industrial/2025-permit-documents/2025-industrial-stormwater-general-permit-part-1--2erc.pdf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https://portal.ct.gov/DEEP/Water-Regulating-and-Discharges/Stormwater/Industrial-Stormwater-GP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486460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https://portal.ct.gov/-/media/deep/adjudications/hearing-officer-reports/20251029-industrial-general-permit-ctr05000093-hor.pdf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City of New Haven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Waterfront redevelopment quality; EJ/community outcomes near Mill River/Fair Haven; maintain winter road-safety reliability.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(Medium-High) rationale: Mill River planning materials and local coverage show proximity to community assets and redevelopment priorities around the waterfront corridor.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Land-use planning and local political agenda-setting; coordination pressure with state and port actors; public process influence.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https://bpb-us-w2.wpmucdn.com/campuspress.yale.edu/dist/a/4311/files/2023/11/New-Haven-Mill-River-Planning-Study-Final-Report-FINAL-web.pdf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https://www.newhavenindependent.org/2025/05/15/deep_salt_pile_hearing/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EPA (program + funding context)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NPDES program outcomes; stormwater risk reduction; climate/environmental benefits from funded port projects.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(Medium) rationale: EPA defines stormwater regulatory framework and publicly announced major port-related investment in New Haven context.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Federal program guidance and oversight context; grant conditions and funding signals (e.g., Clean Ports).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https://www.epa.gov/npdes/npdes-stormwater-program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https://www.epa.gov/newsreleases/biden-harris-administration-announces-nearly-40-million-clean-ports-investments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CT Port Authority + New Haven Port Authority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Port competitiveness and throughput; infrastructure modernization; reduced conflict between port operations and community expectations.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(Medium) rationale: Port authorities appear as partners in funding/implementation context for New Haven port improvements tied to cargo/rail capability.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Project partnership and infrastructure coordination; influence over port-adjacent capital program sequencing.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https://www.epa.gov/newsreleases/biden-harris-administration-announces-nearly-40-million-clean-ports-investments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https://enstructure.com/enstructure-to-receive-11-2-million-federal-grant-to-add-two-new-railyards-and-new-railroad-track-in-new-haven-ct/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US Army Corps of Engineers (USACE)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Harbor/navigation efficiency and economic performance of commodity flow through New Haven.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(Medium) rationale: USACE appendix identifies salt as major imported commodity and references terminal storage role in harbor supply chain.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Planning and documentation influence for navigation/economic framing; federal harbor project context.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https://www.nae.usace.army.mil/Portals/74/docs/Topics/New%20Haven/2020/05-AppendixCEconomcisNewHavenHarborNavigationImprovementProject%20_FinalJanuary2020.pdf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1521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Justification — Community and advocacy stakeholders (Save the Sound, EAC, nearby residents)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Likely interests: Reduce river-edge exposure and nuisance impacts; stronger controls/monitoring transparency; align use of waterfront with community priorities.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737360"/>
            <a:ext cx="11155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Influence (Medium) rationale: Hearing record and reporting capture sustained public comment pressure on siting, coverage quality, and monitoring adequacy.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Practical levers: Public testimony, comment campaigns, media visibility, issue framing in EJ/community terms.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Sources: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https://portal.ct.gov/-/media/deep/adjudications/hearing-officer-reports/20251029-industrial-general-permit-ctr05000093-hor.pdf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53542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• https://www.newhavenindependent.org/2025/05/15/deep_salt_pile_hearing/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Source Index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[1] https://portal.ct.gov/-/media/deep/adjudications/hearing-officer-reports/20251029-industrial-general-permit-ctr05000093-hor.pdf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[2] https://enstructure.com/network/northeast/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[3] https://enstructure.com/gateway-terminal-announces-partnership-with-enstructure/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[4] https://enstructure.com/enstructure-to-receive-11-2-million-federal-grant-to-add-two-new-railyards-and-new-railroad-track-in-new-haven-ct/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[5] https://www.uinet.com/documents/1678076/1696637/UI_ChapelStreet_FAQ.pdf/c3fe8470-bad2-33fa-e046-e16c975afa0f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[6] https://portal.ct.gov/-/media/deep/water_regulating_and_discharges/stormwater/industrial/2025-permit-documents/2025-industrial-stormwater-general-permit-part-1--2erc.pdf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[7] https://portal.ct.gov/DEEP/Water-Regulating-and-Discharges/Stormwater/Industrial-Stormwater-GP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[8] https://bpb-us-w2.wpmucdn.com/campuspress.yale.edu/dist/a/4311/files/2023/11/New-Haven-Mill-River-Planning-Study-Final-Report-FINAL-web.pdf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[9] https://www.newhavenindependent.org/2025/05/15/deep_salt_pile_hearing/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[10] https://www.epa.gov/npdes/npdes-stormwater-program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[11] https://www.epa.gov/newsreleases/biden-harris-administration-announces-nearly-40-million-clean-ports-investments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840480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[12] https://www.nae.usace.army.mil/Portals/74/docs/Topics/New%20Haven/2020/05-AppendixCEconomcisNewHavenHarborNavigationImprovementProject%20_FinalJanuary2020.pdf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2026-02-12T16:09:20Z</dcterms:created>
  <dcterms:modified xsi:type="dcterms:W3CDTF">2026-02-12T16:09:20Z</dcterms:modified>
</cp:coreProperties>
</file>